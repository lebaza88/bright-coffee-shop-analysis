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  <p:sldMasterId id="2147483678" r:id="rId5"/>
  </p:sldMasterIdLst>
  <p:notesMasterIdLst>
    <p:notesMasterId r:id="rId16"/>
  </p:notesMasterIdLst>
  <p:sldIdLst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2B7BA69-6CA1-40F6-BB69-DBECF61554C6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F9A"/>
    <a:srgbClr val="5189BB"/>
    <a:srgbClr val="0B76A0"/>
    <a:srgbClr val="17868E"/>
    <a:srgbClr val="F142BC"/>
    <a:srgbClr val="30A4BB"/>
    <a:srgbClr val="26B7C6"/>
    <a:srgbClr val="46866D"/>
    <a:srgbClr val="175569"/>
    <a:srgbClr val="4B81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94"/>
  </p:normalViewPr>
  <p:slideViewPr>
    <p:cSldViewPr snapToGrid="0">
      <p:cViewPr varScale="1">
        <p:scale>
          <a:sx n="57" d="100"/>
          <a:sy n="57" d="100"/>
        </p:scale>
        <p:origin x="1638" y="7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68E1B-8085-4FC2-B2A2-94B4ECCD352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AB3B4-C75E-4232-899C-F3BC03EF8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1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rtifi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AC7AE2A-4DC6-9E9D-2ED3-0B1E0366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3269" y="2250148"/>
            <a:ext cx="6334126" cy="1288579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30E17AD-1C5B-EF09-0BF8-CBC340F54C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3271" y="795528"/>
            <a:ext cx="6334125" cy="769088"/>
          </a:xfrm>
        </p:spPr>
        <p:txBody>
          <a:bodyPr anchor="b" anchorCtr="0">
            <a:noAutofit/>
          </a:bodyPr>
          <a:lstStyle>
            <a:lvl1pPr>
              <a:lnSpc>
                <a:spcPct val="110000"/>
              </a:lnSpc>
              <a:defRPr sz="2400" b="1" cap="all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  <a:lvl5pPr>
              <a:lnSpc>
                <a:spcPct val="8000"/>
              </a:lnSpc>
              <a:defRPr sz="2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E8ACA24F-3DD7-0A70-0931-DE3D0FBC3F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3271" y="1664208"/>
            <a:ext cx="6334125" cy="431971"/>
          </a:xfrm>
        </p:spPr>
        <p:txBody>
          <a:bodyPr anchor="b" anchorCtr="0">
            <a:noAutofit/>
          </a:bodyPr>
          <a:lstStyle>
            <a:lvl1pPr>
              <a:lnSpc>
                <a:spcPct val="103000"/>
              </a:lnSpc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D8A43E4-E962-3007-E16D-370589E66B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3271" y="3584448"/>
            <a:ext cx="6334126" cy="850659"/>
          </a:xfrm>
        </p:spPr>
        <p:txBody>
          <a:bodyPr>
            <a:normAutofit/>
          </a:bodyPr>
          <a:lstStyle>
            <a:lvl1pPr>
              <a:lnSpc>
                <a:spcPct val="103000"/>
              </a:lnSpc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CDFC7DBE-8C6E-35B5-1E1A-00AE1F172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3899" y="5120640"/>
            <a:ext cx="3962401" cy="381001"/>
          </a:xfrm>
        </p:spPr>
        <p:txBody>
          <a:bodyPr anchor="ctr" anchorCtr="0">
            <a:noAutofit/>
          </a:bodyPr>
          <a:lstStyle>
            <a:lvl1pPr>
              <a:lnSpc>
                <a:spcPct val="103000"/>
              </a:lnSpc>
              <a:defRPr sz="4500">
                <a:latin typeface="Freestyle Script" panose="030804020302050B0404" pitchFamily="66" charset="77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02777466-3B6D-8F52-D660-BA872CF2ED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3898" y="5559552"/>
            <a:ext cx="3962400" cy="384048"/>
          </a:xfrm>
        </p:spPr>
        <p:txBody>
          <a:bodyPr anchor="ctr">
            <a:noAutofit/>
          </a:bodyPr>
          <a:lstStyle>
            <a:lvl1pPr>
              <a:lnSpc>
                <a:spcPct val="103000"/>
              </a:lnSpc>
              <a:defRPr sz="105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194D72B9-5837-76E4-D659-2427AB3B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24447" y="6053328"/>
            <a:ext cx="2771777" cy="384048"/>
          </a:xfrm>
        </p:spPr>
        <p:txBody>
          <a:bodyPr anchor="ctr" anchorCtr="0">
            <a:noAutofit/>
          </a:bodyPr>
          <a:lstStyle>
            <a:lvl1pPr>
              <a:lnSpc>
                <a:spcPct val="103000"/>
              </a:lnSpc>
              <a:defRPr sz="140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3712CA7E-8AC8-D8C6-E863-EF8A2D221E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4446" y="6483096"/>
            <a:ext cx="2771777" cy="384048"/>
          </a:xfrm>
        </p:spPr>
        <p:txBody>
          <a:bodyPr anchor="ctr">
            <a:noAutofit/>
          </a:bodyPr>
          <a:lstStyle>
            <a:lvl1pPr>
              <a:lnSpc>
                <a:spcPct val="103000"/>
              </a:lnSpc>
              <a:defRPr sz="105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632202389">
            <a:extLst>
              <a:ext uri="{FF2B5EF4-FFF2-40B4-BE49-F238E27FC236}">
                <a16:creationId xmlns:a16="http://schemas.microsoft.com/office/drawing/2014/main" id="{093D2D2E-70E8-BD70-D06C-853982491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-21817" b="-980"/>
          <a:stretch/>
        </p:blipFill>
        <p:spPr>
          <a:xfrm>
            <a:off x="0" y="1"/>
            <a:ext cx="7277100" cy="7848597"/>
          </a:xfrm>
          <a:custGeom>
            <a:avLst/>
            <a:gdLst>
              <a:gd name="connsiteX0" fmla="*/ 0 w 7277100"/>
              <a:gd name="connsiteY0" fmla="*/ 0 h 7772399"/>
              <a:gd name="connsiteX1" fmla="*/ 7277100 w 7277100"/>
              <a:gd name="connsiteY1" fmla="*/ 0 h 7772399"/>
              <a:gd name="connsiteX2" fmla="*/ 7277100 w 7277100"/>
              <a:gd name="connsiteY2" fmla="*/ 1 h 7772399"/>
              <a:gd name="connsiteX3" fmla="*/ 2672515 w 7277100"/>
              <a:gd name="connsiteY3" fmla="*/ 1 h 7772399"/>
              <a:gd name="connsiteX4" fmla="*/ 2672515 w 7277100"/>
              <a:gd name="connsiteY4" fmla="*/ 4079459 h 7772399"/>
              <a:gd name="connsiteX5" fmla="*/ 6175419 w 7277100"/>
              <a:gd name="connsiteY5" fmla="*/ 7767597 h 7772399"/>
              <a:gd name="connsiteX6" fmla="*/ 6365357 w 7277100"/>
              <a:gd name="connsiteY6" fmla="*/ 7772399 h 7772399"/>
              <a:gd name="connsiteX7" fmla="*/ 0 w 7277100"/>
              <a:gd name="connsiteY7" fmla="*/ 7772399 h 777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7100" h="7772399">
                <a:moveTo>
                  <a:pt x="0" y="0"/>
                </a:moveTo>
                <a:lnTo>
                  <a:pt x="7277100" y="0"/>
                </a:lnTo>
                <a:lnTo>
                  <a:pt x="7277100" y="1"/>
                </a:lnTo>
                <a:lnTo>
                  <a:pt x="2672515" y="1"/>
                </a:lnTo>
                <a:lnTo>
                  <a:pt x="2672515" y="4079459"/>
                </a:lnTo>
                <a:cubicBezTo>
                  <a:pt x="2672515" y="6055279"/>
                  <a:pt x="4224180" y="7668688"/>
                  <a:pt x="6175419" y="7767597"/>
                </a:cubicBezTo>
                <a:lnTo>
                  <a:pt x="6365357" y="7772399"/>
                </a:lnTo>
                <a:lnTo>
                  <a:pt x="0" y="7772399"/>
                </a:lnTo>
                <a:close/>
              </a:path>
            </a:pathLst>
          </a:cu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F8F153-80F7-9028-3F2F-0073AE1E05AA}"/>
              </a:ext>
            </a:extLst>
          </p:cNvPr>
          <p:cNvCxnSpPr>
            <a:cxnSpLocks/>
          </p:cNvCxnSpPr>
          <p:nvPr userDrawn="1"/>
        </p:nvCxnSpPr>
        <p:spPr>
          <a:xfrm>
            <a:off x="4533898" y="5527289"/>
            <a:ext cx="396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EE5114-6F5A-84D4-F15A-1E69C0DF0F23}"/>
              </a:ext>
            </a:extLst>
          </p:cNvPr>
          <p:cNvCxnSpPr>
            <a:cxnSpLocks/>
          </p:cNvCxnSpPr>
          <p:nvPr userDrawn="1"/>
        </p:nvCxnSpPr>
        <p:spPr>
          <a:xfrm>
            <a:off x="5124446" y="6459008"/>
            <a:ext cx="27717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294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31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64BE-A9F1-8D32-3DAA-B833F2545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FB260-2411-F817-6745-8509E3165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C41B8-1AAC-EFDB-2B1C-99E71AE7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85816-2DDB-0FC6-3210-46FB5D6A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97C3A-6195-5BE1-CDEF-B176D9DC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3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C7992-3A69-8266-6D48-9E90479B3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4A7FF-BF32-00C2-8AA0-12B4C5681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47034-421D-1E6F-CC5F-A3C57DB47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DCCC-4630-5171-C71A-A7A603C55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5879F-029B-051E-C8EA-EE50C736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25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B72E-3E68-151C-31C2-23C73CDD9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65867-B53D-6811-E2BB-A1E477D8D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82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82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8EE04-0553-1889-FA55-255595AD0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F0D97-7B20-D0D9-320E-289A3E2B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D3F49-E4CD-A038-781F-6A92BD01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6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8CB4-2E18-442B-2236-750BFBD2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CD58E-B750-F7B8-1BD1-0C46DF576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88CC1-0713-7DE3-AFF8-0B04CBF91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B2957-C777-6273-A71A-E9D435B6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9BAA8-80E5-8BA9-FD2F-522597B0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F8BAE-F32A-0BD0-C065-7B9CCA33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7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38F2-2326-8621-2F02-7513517E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76C05-34CD-E65A-AF9D-13EE94E56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8CC50-ED6D-3EE4-8758-E2F6195C6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1CE45-2E8E-3BE1-1410-EF9148E8A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32486-E1B6-2C92-1289-B2707A41B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1C46BC-4CB4-501E-D328-15A119B58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C7509-8EBD-090C-CE0F-FE7D7D2D2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6B1E15-36C0-B8C7-DD92-67EBC34DC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0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0443-3D46-BE40-F0EE-109D6615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7C7E6-F2B7-3C92-4885-77F2104CF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472D9-C27A-8420-29C3-26A353CFB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D90AC3-2237-3070-D797-1ADEC2E4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827A3E-93E1-109A-B09E-F2C0423C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571A7B-D305-4DAA-51AA-B7FB899B1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14176-AB20-25E1-4826-9EDAA3E31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4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FC3C-2238-3D78-67AF-4A72700A9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EDCF9-DA78-3B4C-8626-164B47CA7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9173E-76EA-FBAB-ED97-C28A3864A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84739-302F-35F3-22DD-5AD8C7079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E2C36-9A5F-8114-8E8A-995AE645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3C5AE-C857-583B-983A-4CD01B9A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06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E8416-61C0-2D64-E986-CE391020E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2ED2F-87AC-B951-630C-5FCBB3D1F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289BF-8320-FBBF-09F6-1C373B644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58498-2441-CF1B-BEFB-6C8C4F81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8A056-F077-6135-C615-B6B746DF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29057-927A-04CF-342E-59181779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8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88D6-EF0F-86F2-11B7-83F095797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20493-2E36-56B3-8CC6-84CC62168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58D4F-A939-7CBB-50C9-6E206DE3D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242A3-3AFD-BFF2-7D56-26491ABE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0E41D-4E68-1096-8F96-BA7503E7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20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16AC54-F5C3-A72A-CE4E-2887EB8E3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E0F04-BFFC-2358-D74A-098DBAA85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55E3-DA89-F934-C68D-0A0A9ABE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3814B-E175-02BA-415F-6F8A4CE75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EAAD5-62DE-89AB-E61A-B9D63E9ED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3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ertifi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AC7AE2A-4DC6-9E9D-2ED3-0B1E0366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3269" y="2250148"/>
            <a:ext cx="6334126" cy="1288579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30E17AD-1C5B-EF09-0BF8-CBC340F54C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3271" y="795528"/>
            <a:ext cx="6334125" cy="769088"/>
          </a:xfrm>
        </p:spPr>
        <p:txBody>
          <a:bodyPr anchor="b" anchorCtr="0">
            <a:noAutofit/>
          </a:bodyPr>
          <a:lstStyle>
            <a:lvl1pPr>
              <a:lnSpc>
                <a:spcPct val="110000"/>
              </a:lnSpc>
              <a:defRPr sz="2400" b="1" cap="all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  <a:lvl5pPr>
              <a:lnSpc>
                <a:spcPct val="8000"/>
              </a:lnSpc>
              <a:defRPr sz="2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E8ACA24F-3DD7-0A70-0931-DE3D0FBC3F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3271" y="1664208"/>
            <a:ext cx="6334125" cy="431971"/>
          </a:xfrm>
        </p:spPr>
        <p:txBody>
          <a:bodyPr anchor="b" anchorCtr="0">
            <a:noAutofit/>
          </a:bodyPr>
          <a:lstStyle>
            <a:lvl1pPr>
              <a:lnSpc>
                <a:spcPct val="103000"/>
              </a:lnSpc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D8A43E4-E962-3007-E16D-370589E66B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3271" y="3584448"/>
            <a:ext cx="6334126" cy="850659"/>
          </a:xfrm>
        </p:spPr>
        <p:txBody>
          <a:bodyPr>
            <a:normAutofit/>
          </a:bodyPr>
          <a:lstStyle>
            <a:lvl1pPr>
              <a:lnSpc>
                <a:spcPct val="103000"/>
              </a:lnSpc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CDFC7DBE-8C6E-35B5-1E1A-00AE1F172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3899" y="5120640"/>
            <a:ext cx="3962401" cy="381001"/>
          </a:xfrm>
        </p:spPr>
        <p:txBody>
          <a:bodyPr anchor="ctr" anchorCtr="0">
            <a:noAutofit/>
          </a:bodyPr>
          <a:lstStyle>
            <a:lvl1pPr>
              <a:lnSpc>
                <a:spcPct val="103000"/>
              </a:lnSpc>
              <a:defRPr sz="4500">
                <a:latin typeface="Freestyle Script" panose="030804020302050B0404" pitchFamily="66" charset="77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02777466-3B6D-8F52-D660-BA872CF2ED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3898" y="5559552"/>
            <a:ext cx="3962400" cy="384048"/>
          </a:xfrm>
        </p:spPr>
        <p:txBody>
          <a:bodyPr anchor="ctr">
            <a:noAutofit/>
          </a:bodyPr>
          <a:lstStyle>
            <a:lvl1pPr>
              <a:lnSpc>
                <a:spcPct val="103000"/>
              </a:lnSpc>
              <a:defRPr sz="105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194D72B9-5837-76E4-D659-2427AB3B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24447" y="6053328"/>
            <a:ext cx="2771777" cy="384048"/>
          </a:xfrm>
        </p:spPr>
        <p:txBody>
          <a:bodyPr anchor="ctr" anchorCtr="0">
            <a:noAutofit/>
          </a:bodyPr>
          <a:lstStyle>
            <a:lvl1pPr>
              <a:lnSpc>
                <a:spcPct val="103000"/>
              </a:lnSpc>
              <a:defRPr sz="140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3712CA7E-8AC8-D8C6-E863-EF8A2D221E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4446" y="6483096"/>
            <a:ext cx="2771777" cy="384048"/>
          </a:xfrm>
        </p:spPr>
        <p:txBody>
          <a:bodyPr anchor="ctr">
            <a:noAutofit/>
          </a:bodyPr>
          <a:lstStyle>
            <a:lvl1pPr>
              <a:lnSpc>
                <a:spcPct val="103000"/>
              </a:lnSpc>
              <a:defRPr sz="1050" cap="none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632202389">
            <a:extLst>
              <a:ext uri="{FF2B5EF4-FFF2-40B4-BE49-F238E27FC236}">
                <a16:creationId xmlns:a16="http://schemas.microsoft.com/office/drawing/2014/main" id="{093D2D2E-70E8-BD70-D06C-853982491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-21817" b="-980"/>
          <a:stretch/>
        </p:blipFill>
        <p:spPr>
          <a:xfrm>
            <a:off x="0" y="1"/>
            <a:ext cx="7277100" cy="7848597"/>
          </a:xfrm>
          <a:custGeom>
            <a:avLst/>
            <a:gdLst>
              <a:gd name="connsiteX0" fmla="*/ 0 w 7277100"/>
              <a:gd name="connsiteY0" fmla="*/ 0 h 7772399"/>
              <a:gd name="connsiteX1" fmla="*/ 7277100 w 7277100"/>
              <a:gd name="connsiteY1" fmla="*/ 0 h 7772399"/>
              <a:gd name="connsiteX2" fmla="*/ 7277100 w 7277100"/>
              <a:gd name="connsiteY2" fmla="*/ 1 h 7772399"/>
              <a:gd name="connsiteX3" fmla="*/ 2672515 w 7277100"/>
              <a:gd name="connsiteY3" fmla="*/ 1 h 7772399"/>
              <a:gd name="connsiteX4" fmla="*/ 2672515 w 7277100"/>
              <a:gd name="connsiteY4" fmla="*/ 4079459 h 7772399"/>
              <a:gd name="connsiteX5" fmla="*/ 6175419 w 7277100"/>
              <a:gd name="connsiteY5" fmla="*/ 7767597 h 7772399"/>
              <a:gd name="connsiteX6" fmla="*/ 6365357 w 7277100"/>
              <a:gd name="connsiteY6" fmla="*/ 7772399 h 7772399"/>
              <a:gd name="connsiteX7" fmla="*/ 0 w 7277100"/>
              <a:gd name="connsiteY7" fmla="*/ 7772399 h 777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7100" h="7772399">
                <a:moveTo>
                  <a:pt x="0" y="0"/>
                </a:moveTo>
                <a:lnTo>
                  <a:pt x="7277100" y="0"/>
                </a:lnTo>
                <a:lnTo>
                  <a:pt x="7277100" y="1"/>
                </a:lnTo>
                <a:lnTo>
                  <a:pt x="2672515" y="1"/>
                </a:lnTo>
                <a:lnTo>
                  <a:pt x="2672515" y="4079459"/>
                </a:lnTo>
                <a:cubicBezTo>
                  <a:pt x="2672515" y="6055279"/>
                  <a:pt x="4224180" y="7668688"/>
                  <a:pt x="6175419" y="7767597"/>
                </a:cubicBezTo>
                <a:lnTo>
                  <a:pt x="6365357" y="7772399"/>
                </a:lnTo>
                <a:lnTo>
                  <a:pt x="0" y="7772399"/>
                </a:lnTo>
                <a:close/>
              </a:path>
            </a:pathLst>
          </a:cu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F8F153-80F7-9028-3F2F-0073AE1E05AA}"/>
              </a:ext>
            </a:extLst>
          </p:cNvPr>
          <p:cNvCxnSpPr>
            <a:cxnSpLocks/>
          </p:cNvCxnSpPr>
          <p:nvPr userDrawn="1"/>
        </p:nvCxnSpPr>
        <p:spPr>
          <a:xfrm>
            <a:off x="4533898" y="5527289"/>
            <a:ext cx="396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EE5114-6F5A-84D4-F15A-1E69C0DF0F23}"/>
              </a:ext>
            </a:extLst>
          </p:cNvPr>
          <p:cNvCxnSpPr>
            <a:cxnSpLocks/>
          </p:cNvCxnSpPr>
          <p:nvPr userDrawn="1"/>
        </p:nvCxnSpPr>
        <p:spPr>
          <a:xfrm>
            <a:off x="5124446" y="6459008"/>
            <a:ext cx="27717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896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316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add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7942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ctr" defTabSz="1005840" rtl="0" eaLnBrk="1" latinLnBrk="0" hangingPunct="1">
        <a:lnSpc>
          <a:spcPct val="85000"/>
        </a:lnSpc>
        <a:spcBef>
          <a:spcPct val="0"/>
        </a:spcBef>
        <a:buNone/>
        <a:defRPr sz="45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1005840" rtl="0" eaLnBrk="1" latinLnBrk="0" hangingPunct="1">
        <a:lnSpc>
          <a:spcPct val="103000"/>
        </a:lnSpc>
        <a:spcBef>
          <a:spcPts val="0"/>
        </a:spcBef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0" algn="ctr" defTabSz="1005840" rtl="0" eaLnBrk="1" latinLnBrk="0" hangingPunct="1">
        <a:lnSpc>
          <a:spcPct val="90000"/>
        </a:lnSpc>
        <a:spcBef>
          <a:spcPts val="550"/>
        </a:spcBef>
        <a:buFontTx/>
        <a:buNone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0" algn="ctr" defTabSz="1005840" rtl="0" eaLnBrk="1" latinLnBrk="0" hangingPunct="1">
        <a:lnSpc>
          <a:spcPct val="90000"/>
        </a:lnSpc>
        <a:spcBef>
          <a:spcPts val="550"/>
        </a:spcBef>
        <a:buFontTx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indent="0" algn="ctr" defTabSz="1005840" rtl="0" eaLnBrk="1" latinLnBrk="0" hangingPunct="1">
        <a:lnSpc>
          <a:spcPct val="90000"/>
        </a:lnSpc>
        <a:spcBef>
          <a:spcPts val="550"/>
        </a:spcBef>
        <a:buFontTx/>
        <a:buNone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indent="0" algn="ctr" defTabSz="1005840" rtl="0" eaLnBrk="1" latinLnBrk="0" hangingPunct="1">
        <a:lnSpc>
          <a:spcPct val="90000"/>
        </a:lnSpc>
        <a:spcBef>
          <a:spcPts val="550"/>
        </a:spcBef>
        <a:buFontTx/>
        <a:buNone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8" userDrawn="1">
          <p15:clr>
            <a:srgbClr val="F26B43"/>
          </p15:clr>
        </p15:guide>
        <p15:guide id="2" pos="31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8E2DFC-E6DB-4D74-A958-1D539A63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A93FA-2D1A-BBB9-4BD3-2B4E79B4B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0FED5-BC54-3045-1005-54F6674B3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87B68-F0F6-468D-A926-38AFD72CE5D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5993-07EE-6A19-1BBD-91379601F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D5DB3-FE40-554E-0D0F-EBF8C4917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3122B-7937-4A30-AF58-1F91F943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6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8" userDrawn="1">
          <p15:clr>
            <a:srgbClr val="F26B43"/>
          </p15:clr>
        </p15:guide>
        <p15:guide id="2" pos="31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>
            <a:extLst>
              <a:ext uri="{FF2B5EF4-FFF2-40B4-BE49-F238E27FC236}">
                <a16:creationId xmlns:a16="http://schemas.microsoft.com/office/drawing/2014/main" id="{97E6FBEE-EB32-96C5-FC50-C4822301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Bright coffee: CEO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1ABBB8-E1DD-6AF0-8A38-9ADF54CE25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BRIGHT COFFEE 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11901-084D-3CB1-CF42-D8D8DFACF9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is presented to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A420F8-C8AC-EEB4-AD93-8FBB93C709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“Acknowledging remarkable devotion to delivering quality and service”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4220D8-74A4-2256-78D9-E6F21E0A9A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33899" y="4435108"/>
            <a:ext cx="3962401" cy="1066534"/>
          </a:xfrm>
        </p:spPr>
        <p:txBody>
          <a:bodyPr/>
          <a:lstStyle/>
          <a:p>
            <a:r>
              <a:rPr lang="en-US" sz="2400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TSHEPO MORAKE-JUNIOR DATA ANALYS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675DA1-AD25-33BC-569B-53E2A17E38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Presenter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3317FB-6D88-3E93-FA34-836D1C2CC8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24447" y="6053328"/>
            <a:ext cx="2771778" cy="54864"/>
          </a:xfrm>
        </p:spPr>
        <p:txBody>
          <a:bodyPr/>
          <a:lstStyle/>
          <a:p>
            <a:r>
              <a:rPr lang="en-US" sz="2800" b="1" dirty="0"/>
              <a:t>31 MARCH 2026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580B80-6DB9-FA89-32B0-1345082574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724855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FFB28-FDED-D470-84A1-CC0C40F461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dirty="0"/>
              <a:t>AGENDA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513441E-163F-39C1-922C-C6C8EF9027B2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2743200" y="2143816"/>
            <a:ext cx="7112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shop overview &amp; our approach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 from 2023 transactional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Clear, actionable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steps to keep momentum </a:t>
            </a:r>
          </a:p>
        </p:txBody>
      </p:sp>
    </p:spTree>
    <p:extLst>
      <p:ext uri="{BB962C8B-B14F-4D97-AF65-F5344CB8AC3E}">
        <p14:creationId xmlns:p14="http://schemas.microsoft.com/office/powerpoint/2010/main" val="252627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2F3F4-5992-F465-5DCE-B5998D787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introduction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82948A0-EF67-60DE-ED49-1E2C0E57EA47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3708400" y="1453028"/>
            <a:ext cx="596899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Bright Coffee Shop Sales dataset captures daily transactions across products within 3 stores.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CEO appointed with a mission to grow revenue and improve product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ctionable insights from historical sales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provide a decision-support presentation for strategic growth.</a:t>
            </a:r>
          </a:p>
        </p:txBody>
      </p:sp>
    </p:spTree>
    <p:extLst>
      <p:ext uri="{BB962C8B-B14F-4D97-AF65-F5344CB8AC3E}">
        <p14:creationId xmlns:p14="http://schemas.microsoft.com/office/powerpoint/2010/main" val="2522921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F760F-7CB0-F0A9-4E1B-A22EF85926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background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0BCCA3C-1394-B62A-22F8-3A3CB1BD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14056" y="1445272"/>
            <a:ext cx="606333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Coffee industry is highly competitive, requiring data-driven strategies.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sales data offers visibility into customer preferences and product trends.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growth depends on identifying high-performing products and areas for improvement.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will guide CEO in strategic planning, marketing, and operations.</a:t>
            </a:r>
          </a:p>
        </p:txBody>
      </p:sp>
    </p:spTree>
    <p:extLst>
      <p:ext uri="{BB962C8B-B14F-4D97-AF65-F5344CB8AC3E}">
        <p14:creationId xmlns:p14="http://schemas.microsoft.com/office/powerpoint/2010/main" val="290158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6D151-AC1C-C91E-6878-2F1A151803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7E9BC-7267-E581-A459-6E47AEDF4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067" y="1783686"/>
            <a:ext cx="5909733" cy="471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96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0694C-0AB7-6B63-ECAE-689898FAAA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FDF65-D833-0E1B-557D-46663203F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800" y="2249831"/>
            <a:ext cx="6070596" cy="435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36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963B6-6508-EEFF-47F8-F19708BCBA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1F8EF-1339-B378-C210-F007549AE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2201333"/>
            <a:ext cx="6163734" cy="451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9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ECF03-ABDE-EDAE-4BCB-975861A2A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6ADE4-B2A6-2C22-F2BB-720912077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305" y="2258856"/>
            <a:ext cx="5835962" cy="424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08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6E782-7B02-BDC9-EA0E-AFD0B916FD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recommendations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2B87453-1137-281D-2541-3BF20B9D037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217332" y="1758514"/>
            <a:ext cx="6841067" cy="5065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marketing and promotions on Saturday, which shows the lowest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Reinforce strategies on Monday and Friday,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they are peak </a:t>
            </a:r>
            <a:r>
              <a:rPr lang="en-US" sz="2400" b="1" dirty="0"/>
              <a:t>revenue days.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1" dirty="0"/>
              <a:t>Low-performing categories (e.g., Branded, Loose Tea, Packaged Chocolate) may need rebranding, bundling, or discontinuation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b="1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/>
              <a:t>Lower Manhattan lags behind; investigate causes (location, customer base, product mix)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50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C1646-AA45-7B56-62DC-FF584CDCF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Question &amp; answers</a:t>
            </a:r>
          </a:p>
        </p:txBody>
      </p:sp>
    </p:spTree>
    <p:extLst>
      <p:ext uri="{BB962C8B-B14F-4D97-AF65-F5344CB8AC3E}">
        <p14:creationId xmlns:p14="http://schemas.microsoft.com/office/powerpoint/2010/main" val="93922221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4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P_Certificate_25_win32_KB_V2" id="{267DDDAD-F68C-42C8-AA5F-1BBF302A71A0}" vid="{9E705A5D-953B-468F-BD72-BBC529A2D4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5226723-9B32-460B-99DB-A43503298F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99A572-E97A-4E1B-80FE-1182A3A81F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5178F5-38E4-4969-878D-E583BCDA43E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</TotalTime>
  <Words>223</Words>
  <Application>Microsoft Office PowerPoint</Application>
  <PresentationFormat>Custom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Aharoni</vt:lpstr>
      <vt:lpstr>Aptos</vt:lpstr>
      <vt:lpstr>Aptos Display</vt:lpstr>
      <vt:lpstr>Arial</vt:lpstr>
      <vt:lpstr>Century Gothic</vt:lpstr>
      <vt:lpstr>Freestyle Script</vt:lpstr>
      <vt:lpstr>Custom</vt:lpstr>
      <vt:lpstr>Office Theme</vt:lpstr>
      <vt:lpstr>Bright coffee: CEO</vt:lpstr>
      <vt:lpstr>PowerPoint Presentation</vt:lpstr>
      <vt:lpstr>PowerPoint Presentation</vt:lpstr>
      <vt:lpstr>Coffee industry is highly competitive, requiring data-driven strategies.  Historical sales data offers visibility into customer preferences and product trends.  Revenue growth depends on identifying high-performing products and areas for improvement.  Insights will guide CEO in strategic planning, marketing, and operations.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Tshepo Morake (GPEDU)</dc:creator>
  <cp:lastModifiedBy>Tshepo Morake (GPEDU)</cp:lastModifiedBy>
  <cp:revision>14</cp:revision>
  <dcterms:created xsi:type="dcterms:W3CDTF">2026-03-30T10:26:23Z</dcterms:created>
  <dcterms:modified xsi:type="dcterms:W3CDTF">2026-03-30T23:55:13Z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